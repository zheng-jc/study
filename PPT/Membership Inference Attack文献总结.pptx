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6" r:id="rId7"/>
    <p:sldId id="260" r:id="rId8"/>
    <p:sldId id="265" r:id="rId9"/>
    <p:sldId id="262" r:id="rId10"/>
    <p:sldId id="261" r:id="rId11"/>
    <p:sldId id="263" r:id="rId12"/>
    <p:sldId id="267" r:id="rId13"/>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76" d="100"/>
          <a:sy n="76" d="100"/>
        </p:scale>
        <p:origin x="120"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177A1FEA-6898-4CF1-9DDF-2E1065193B2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A72C40-71A4-4263-8940-C98948134FD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7A1FEA-6898-4CF1-9DDF-2E1065193B2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72C40-71A4-4263-8940-C98948134FD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82563"/>
            <a:ext cx="5067300" cy="655637"/>
          </a:xfrm>
        </p:spPr>
        <p:txBody>
          <a:bodyPr>
            <a:normAutofit/>
          </a:bodyPr>
          <a:lstStyle/>
          <a:p>
            <a:r>
              <a:rPr lang="en-US" altLang="zh-CN" sz="2800" dirty="0">
                <a:latin typeface="宋体" panose="02010600030101010101" pitchFamily="2" charset="-122"/>
                <a:ea typeface="宋体" panose="02010600030101010101" pitchFamily="2" charset="-122"/>
              </a:rPr>
              <a:t>Membership Inference Attack</a:t>
            </a:r>
            <a:endParaRPr lang="zh-CN" altLang="en-US" sz="2800" dirty="0">
              <a:latin typeface="宋体" panose="02010600030101010101" pitchFamily="2" charset="-122"/>
              <a:ea typeface="宋体" panose="02010600030101010101" pitchFamily="2" charset="-122"/>
            </a:endParaRPr>
          </a:p>
        </p:txBody>
      </p:sp>
      <p:sp>
        <p:nvSpPr>
          <p:cNvPr id="7" name="Rectangle 3"/>
          <p:cNvSpPr>
            <a:spLocks noGrp="1" noChangeArrowheads="1"/>
          </p:cNvSpPr>
          <p:nvPr>
            <p:ph type="subTitle" idx="1"/>
          </p:nvPr>
        </p:nvSpPr>
        <p:spPr bwMode="auto">
          <a:xfrm>
            <a:off x="1524000" y="1322169"/>
            <a:ext cx="8966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模型或多或少的也会产生一定的过拟合，因此对于训练数据样本(member)和非训练数据样本(non-member)的表现就会不同，我们依此训练一个二分类模型来捕捉模型对于member和non-member的表现的不同</a:t>
            </a:r>
            <a:r>
              <a:rPr kumimoji="0" lang="zh-CN" altLang="zh-CN" sz="800" b="0" i="0" u="none" strike="noStrike" cap="none" normalizeH="0" baseline="0" dirty="0">
                <a:ln>
                  <a:noFill/>
                </a:ln>
                <a:solidFill>
                  <a:schemeClr val="tx1"/>
                </a:solidFill>
                <a:effectLst/>
              </a:rPr>
              <a:t> </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zh-CN"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800" b="0" i="0" u="none" strike="noStrike" cap="none" normalizeH="0" baseline="0" dirty="0">
              <a:ln>
                <a:noFill/>
              </a:ln>
              <a:solidFill>
                <a:schemeClr val="tx1"/>
              </a:solidFill>
              <a:effectLst/>
              <a:latin typeface="Arial" panose="020B0604020202020204" pitchFamily="34" charset="0"/>
            </a:endParaRPr>
          </a:p>
        </p:txBody>
      </p:sp>
      <p:sp>
        <p:nvSpPr>
          <p:cNvPr id="8" name="Rectangle 4"/>
          <p:cNvSpPr>
            <a:spLocks noChangeArrowheads="1"/>
          </p:cNvSpPr>
          <p:nvPr/>
        </p:nvSpPr>
        <p:spPr bwMode="auto">
          <a:xfrm>
            <a:off x="1561711" y="2079090"/>
            <a:ext cx="8966200"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我们几乎所有的隐私数据都可能被应用于机器学习模型的训练中，如果成员推理攻击</a:t>
            </a:r>
            <a:r>
              <a:rPr lang="zh-CN" altLang="en-US" sz="1200" dirty="0">
                <a:solidFill>
                  <a:srgbClr val="333333"/>
                </a:solidFill>
                <a:latin typeface="Open Sans" panose="020B0606030504020204" pitchFamily="34" charset="0"/>
                <a:cs typeface="Open Sans" panose="020B0606030504020204" pitchFamily="34" charset="0"/>
              </a:rPr>
              <a:t>成立</a:t>
            </a:r>
            <a:r>
              <a:rPr kumimoji="0" lang="zh-CN" altLang="zh-CN"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，那么对于我们的隐私泄露将会是前所未有的。</a:t>
            </a:r>
            <a:r>
              <a:rPr lang="zh-CN" altLang="en-US" sz="1200" dirty="0">
                <a:solidFill>
                  <a:srgbClr val="333333"/>
                </a:solidFill>
                <a:latin typeface="Open Sans" panose="020B0606030504020204" pitchFamily="34" charset="0"/>
                <a:cs typeface="Open Sans" panose="020B0606030504020204" pitchFamily="34" charset="0"/>
              </a:rPr>
              <a:t>试</a:t>
            </a:r>
            <a:r>
              <a:rPr kumimoji="0" lang="zh-CN" altLang="zh-CN"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想，当你在医院的就医记录被攻击者获得，那么攻击者可能就会通过你的就医记录来推测你会不会患上某些疾病，进而以此来对你进行相关产品的推销甚至诈骗，等等</a:t>
            </a:r>
            <a:endParaRPr kumimoji="0" lang="en-US" altLang="zh-CN"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pPr>
            <a:endParaRPr lang="en-US" altLang="zh-CN" sz="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zh-CN" sz="800" b="0" i="0" u="none" strike="noStrike" cap="none" normalizeH="0" baseline="0" dirty="0">
              <a:ln>
                <a:noFill/>
              </a:ln>
              <a:solidFill>
                <a:schemeClr val="tx1"/>
              </a:solidFill>
              <a:effectLst/>
              <a:latin typeface="Arial" panose="020B0604020202020204" pitchFamily="34" charset="0"/>
            </a:endParaRPr>
          </a:p>
        </p:txBody>
      </p:sp>
      <p:pic>
        <p:nvPicPr>
          <p:cNvPr id="10" name="图片 9"/>
          <p:cNvPicPr>
            <a:picLocks noChangeAspect="1"/>
          </p:cNvPicPr>
          <p:nvPr/>
        </p:nvPicPr>
        <p:blipFill>
          <a:blip r:embed="rId1"/>
          <a:stretch>
            <a:fillRect/>
          </a:stretch>
        </p:blipFill>
        <p:spPr>
          <a:xfrm>
            <a:off x="6451600" y="3429000"/>
            <a:ext cx="4428571" cy="1800000"/>
          </a:xfrm>
          <a:prstGeom prst="rect">
            <a:avLst/>
          </a:prstGeom>
        </p:spPr>
      </p:pic>
      <p:sp>
        <p:nvSpPr>
          <p:cNvPr id="11" name="文本框 10"/>
          <p:cNvSpPr txBox="1"/>
          <p:nvPr/>
        </p:nvSpPr>
        <p:spPr>
          <a:xfrm>
            <a:off x="1561711" y="3651891"/>
            <a:ext cx="4038991" cy="1354217"/>
          </a:xfrm>
          <a:prstGeom prst="rect">
            <a:avLst/>
          </a:prstGeom>
          <a:noFill/>
        </p:spPr>
        <p:txBody>
          <a:bodyPr wrap="square" rtlCol="0">
            <a:spAutoFit/>
          </a:bodyPr>
          <a:lstStyle/>
          <a:p>
            <a:r>
              <a:rPr lang="zh-CN" altLang="en-US" sz="1200" dirty="0">
                <a:latin typeface="宋体" panose="02010600030101010101" pitchFamily="2" charset="-122"/>
                <a:ea typeface="宋体" panose="02010600030101010101" pitchFamily="2" charset="-122"/>
              </a:rPr>
              <a:t>定义攻击模型</a:t>
            </a:r>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fattack</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它的输入</a:t>
            </a:r>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xattack</a:t>
            </a:r>
            <a:r>
              <a:rPr lang="zh-CN" altLang="en-US" sz="1200" dirty="0">
                <a:latin typeface="宋体" panose="02010600030101010101" pitchFamily="2" charset="-122"/>
                <a:ea typeface="宋体" panose="02010600030101010101" pitchFamily="2" charset="-122"/>
              </a:rPr>
              <a:t>是由一个正确标签类和一个目标模型的预测置信度向量组成，该攻击模型的输出为一个预测类“</a:t>
            </a:r>
            <a:r>
              <a:rPr lang="en-US" altLang="zh-CN" sz="1200" dirty="0">
                <a:latin typeface="宋体" panose="02010600030101010101" pitchFamily="2" charset="-122"/>
                <a:ea typeface="宋体" panose="02010600030101010101" pitchFamily="2" charset="-122"/>
              </a:rPr>
              <a:t>in</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member</a:t>
            </a:r>
            <a:r>
              <a:rPr lang="zh-CN" altLang="en-US" sz="1200" dirty="0">
                <a:latin typeface="宋体" panose="02010600030101010101" pitchFamily="2" charset="-122"/>
                <a:ea typeface="宋体" panose="02010600030101010101" pitchFamily="2" charset="-122"/>
              </a:rPr>
              <a:t>或“</a:t>
            </a:r>
            <a:r>
              <a:rPr lang="en-US" altLang="zh-CN" sz="1200" dirty="0">
                <a:latin typeface="宋体" panose="02010600030101010101" pitchFamily="2" charset="-122"/>
                <a:ea typeface="宋体" panose="02010600030101010101" pitchFamily="2" charset="-122"/>
              </a:rPr>
              <a:t>out</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non-member</a:t>
            </a:r>
            <a:r>
              <a:rPr lang="zh-CN" altLang="en-US" sz="1200" dirty="0">
                <a:latin typeface="宋体" panose="02010600030101010101" pitchFamily="2" charset="-122"/>
                <a:ea typeface="宋体" panose="02010600030101010101" pitchFamily="2" charset="-122"/>
              </a:rPr>
              <a:t>，即</a:t>
            </a:r>
            <a:endParaRPr lang="en-US" altLang="zh-CN" sz="1200" dirty="0">
              <a:latin typeface="宋体" panose="02010600030101010101" pitchFamily="2" charset="-122"/>
              <a:ea typeface="宋体" panose="02010600030101010101" pitchFamily="2" charset="-122"/>
            </a:endParaRPr>
          </a:p>
          <a:p>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fattack</a:t>
            </a:r>
            <a:r>
              <a:rPr lang="en-US" altLang="zh-CN" sz="1200" dirty="0">
                <a:latin typeface="宋体" panose="02010600030101010101" pitchFamily="2" charset="-122"/>
                <a:ea typeface="宋体" panose="02010600030101010101" pitchFamily="2" charset="-122"/>
              </a:rPr>
              <a:t>(</a:t>
            </a:r>
            <a:r>
              <a:rPr kumimoji="0" lang="en-US" altLang="zh-CN" sz="1200" b="0" i="1"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xattack</a:t>
            </a:r>
            <a:r>
              <a:rPr lang="en-US" altLang="zh-CN" sz="1200" dirty="0">
                <a:latin typeface="宋体" panose="02010600030101010101" pitchFamily="2" charset="-122"/>
                <a:ea typeface="宋体" panose="02010600030101010101" pitchFamily="2" charset="-122"/>
              </a:rPr>
              <a:t>)—&gt;</a:t>
            </a:r>
            <a:r>
              <a:rPr lang="en-US" altLang="zh-CN" sz="1200" i="1" dirty="0">
                <a:latin typeface="Times New Roman" panose="02020603050405020304" pitchFamily="18" charset="0"/>
                <a:ea typeface="宋体" panose="02010600030101010101" pitchFamily="2" charset="-122"/>
                <a:cs typeface="Times New Roman" panose="02020603050405020304" pitchFamily="18" charset="0"/>
              </a:rPr>
              <a:t>y</a:t>
            </a:r>
            <a:r>
              <a:rPr lang="en-US" altLang="zh-CN" sz="1200" dirty="0">
                <a:latin typeface="宋体" panose="02010600030101010101" pitchFamily="2" charset="-122"/>
                <a:ea typeface="宋体" panose="02010600030101010101" pitchFamily="2" charset="-122"/>
              </a:rPr>
              <a:t>,</a:t>
            </a:r>
            <a:r>
              <a:rPr lang="zh-CN" altLang="en-US" sz="1200" dirty="0">
                <a:latin typeface="宋体" panose="02010600030101010101" pitchFamily="2" charset="-122"/>
                <a:ea typeface="宋体" panose="02010600030101010101" pitchFamily="2" charset="-122"/>
              </a:rPr>
              <a:t>其中，</a:t>
            </a:r>
            <a:r>
              <a:rPr lang="en-US" altLang="zh-CN" sz="1200" dirty="0">
                <a:latin typeface="宋体" panose="02010600030101010101" pitchFamily="2" charset="-122"/>
                <a:ea typeface="宋体" panose="02010600030101010101" pitchFamily="2" charset="-122"/>
              </a:rPr>
              <a:t>=(</a:t>
            </a:r>
            <a:r>
              <a:rPr lang="en-US" altLang="zh-CN" sz="1200" i="1" dirty="0" err="1">
                <a:latin typeface="Times New Roman" panose="02020603050405020304" pitchFamily="18" charset="0"/>
                <a:ea typeface="宋体" panose="02010600030101010101" pitchFamily="2" charset="-122"/>
                <a:cs typeface="Times New Roman" panose="02020603050405020304" pitchFamily="18" charset="0"/>
              </a:rPr>
              <a:t>label,prediction</a:t>
            </a:r>
            <a:r>
              <a:rPr lang="en-US" altLang="zh-CN" sz="1200" dirty="0">
                <a:latin typeface="宋体" panose="02010600030101010101" pitchFamily="2" charset="-122"/>
                <a:ea typeface="宋体" panose="02010600030101010101" pitchFamily="2" charset="-122"/>
              </a:rPr>
              <a:t>),</a:t>
            </a:r>
            <a:r>
              <a:rPr lang="en-US" altLang="zh-CN" sz="1200" i="1" dirty="0">
                <a:latin typeface="Times New Roman" panose="02020603050405020304" pitchFamily="18" charset="0"/>
                <a:ea typeface="宋体" panose="02010600030101010101" pitchFamily="2" charset="-122"/>
                <a:cs typeface="Times New Roman" panose="02020603050405020304" pitchFamily="18" charset="0"/>
              </a:rPr>
              <a:t>y</a:t>
            </a:r>
            <a:r>
              <a:rPr lang="zh-CN" altLang="en-US" sz="1200" dirty="0">
                <a:latin typeface="宋体" panose="02010600030101010101" pitchFamily="2" charset="-122"/>
                <a:ea typeface="宋体" panose="02010600030101010101" pitchFamily="2" charset="-122"/>
              </a:rPr>
              <a:t>∈</a:t>
            </a:r>
            <a:r>
              <a:rPr lang="en-US" altLang="zh-CN" sz="1200" dirty="0">
                <a:latin typeface="宋体" panose="02010600030101010101" pitchFamily="2" charset="-122"/>
                <a:ea typeface="宋体" panose="02010600030101010101" pitchFamily="2" charset="-122"/>
              </a:rPr>
              <a:t>{</a:t>
            </a:r>
            <a:r>
              <a:rPr lang="en-US" altLang="zh-CN" sz="1200" i="1" dirty="0">
                <a:latin typeface="Times New Roman" panose="02020603050405020304" pitchFamily="18" charset="0"/>
                <a:ea typeface="宋体" panose="02010600030101010101" pitchFamily="2" charset="-122"/>
                <a:cs typeface="Times New Roman" panose="02020603050405020304" pitchFamily="18" charset="0"/>
              </a:rPr>
              <a:t>in</a:t>
            </a:r>
            <a:r>
              <a:rPr lang="zh-CN" altLang="en-US" sz="1200" i="1"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200" i="1" dirty="0">
                <a:latin typeface="Times New Roman" panose="02020603050405020304" pitchFamily="18" charset="0"/>
                <a:ea typeface="宋体" panose="02010600030101010101" pitchFamily="2" charset="-122"/>
                <a:cs typeface="Times New Roman" panose="02020603050405020304" pitchFamily="18" charset="0"/>
              </a:rPr>
              <a:t>out</a:t>
            </a:r>
            <a:r>
              <a:rPr lang="en-US" altLang="zh-CN" sz="1200" dirty="0">
                <a:latin typeface="宋体" panose="02010600030101010101" pitchFamily="2" charset="-122"/>
                <a:ea typeface="宋体" panose="02010600030101010101" pitchFamily="2" charset="-122"/>
              </a:rPr>
              <a:t>}</a:t>
            </a:r>
            <a:endParaRPr lang="en-US" altLang="zh-CN" sz="1200" dirty="0">
              <a:latin typeface="宋体" panose="02010600030101010101" pitchFamily="2" charset="-122"/>
              <a:ea typeface="宋体" panose="02010600030101010101" pitchFamily="2" charset="-122"/>
            </a:endParaRPr>
          </a:p>
          <a:p>
            <a:endParaRPr lang="zh-CN" altLang="en-US" sz="1000" dirty="0">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473075"/>
          </a:xfrm>
        </p:spPr>
        <p:txBody>
          <a:bodyPr>
            <a:normAutofit fontScale="90000"/>
          </a:bodyPr>
          <a:lstStyle/>
          <a:p>
            <a:r>
              <a:rPr lang="zh-CN" altLang="en-US" sz="2800" dirty="0">
                <a:latin typeface="宋体" panose="02010600030101010101" pitchFamily="2" charset="-122"/>
                <a:ea typeface="宋体" panose="02010600030101010101" pitchFamily="2" charset="-122"/>
              </a:rPr>
              <a:t>核心思想：</a:t>
            </a:r>
            <a:r>
              <a:rPr lang="en-US" altLang="zh-CN" sz="2800" dirty="0">
                <a:latin typeface="宋体" panose="02010600030101010101" pitchFamily="2" charset="-122"/>
                <a:ea typeface="宋体" panose="02010600030101010101" pitchFamily="2" charset="-122"/>
              </a:rPr>
              <a:t>shadow model</a:t>
            </a:r>
            <a:endParaRPr lang="zh-CN" altLang="en-US" sz="2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838200" y="1139249"/>
            <a:ext cx="10515600" cy="1007051"/>
          </a:xfrm>
        </p:spPr>
        <p:txBody>
          <a:bodyPr>
            <a:normAutofit/>
          </a:bodyPr>
          <a:lstStyle/>
          <a:p>
            <a:pPr marL="0" indent="0">
              <a:buNone/>
            </a:pPr>
            <a:r>
              <a:rPr lang="zh-CN" altLang="en-US" sz="1000" dirty="0">
                <a:latin typeface="宋体" panose="02010600030101010101" pitchFamily="2" charset="-122"/>
                <a:ea typeface="宋体" panose="02010600030101010101" pitchFamily="2" charset="-122"/>
              </a:rPr>
              <a:t>既要真实的</a:t>
            </a:r>
            <a:r>
              <a:rPr lang="en-US" altLang="zh-CN" sz="1000" dirty="0">
                <a:latin typeface="宋体" panose="02010600030101010101" pitchFamily="2" charset="-122"/>
                <a:ea typeface="宋体" panose="02010600030101010101" pitchFamily="2" charset="-122"/>
              </a:rPr>
              <a:t>label</a:t>
            </a:r>
            <a:r>
              <a:rPr lang="zh-CN" altLang="en-US" sz="1000" dirty="0">
                <a:latin typeface="宋体" panose="02010600030101010101" pitchFamily="2" charset="-122"/>
                <a:ea typeface="宋体" panose="02010600030101010101" pitchFamily="2" charset="-122"/>
              </a:rPr>
              <a:t>，又要目标模型的预测置信度，对攻击者会不会过于严苛了，为解决这个问题，提出了核心思想，</a:t>
            </a:r>
            <a:r>
              <a:rPr lang="en-US" altLang="zh-CN" sz="1000" b="1" dirty="0">
                <a:latin typeface="宋体" panose="02010600030101010101" pitchFamily="2" charset="-122"/>
                <a:ea typeface="宋体" panose="02010600030101010101" pitchFamily="2" charset="-122"/>
              </a:rPr>
              <a:t>shadow model</a:t>
            </a:r>
            <a:endParaRPr lang="en-US" altLang="zh-CN" sz="1000" b="1" dirty="0">
              <a:latin typeface="宋体" panose="02010600030101010101" pitchFamily="2" charset="-122"/>
              <a:ea typeface="宋体" panose="02010600030101010101" pitchFamily="2" charset="-122"/>
            </a:endParaRPr>
          </a:p>
          <a:p>
            <a:pPr marL="0" indent="0">
              <a:buNone/>
            </a:pPr>
            <a:r>
              <a:rPr lang="zh-CN" altLang="en-US" sz="1000" dirty="0">
                <a:latin typeface="宋体" panose="02010600030101010101" pitchFamily="2" charset="-122"/>
                <a:ea typeface="宋体" panose="02010600030101010101" pitchFamily="2" charset="-122"/>
              </a:rPr>
              <a:t>所谓</a:t>
            </a:r>
            <a:r>
              <a:rPr lang="en-US" altLang="zh-CN" sz="1000" b="1" dirty="0">
                <a:latin typeface="宋体" panose="02010600030101010101" pitchFamily="2" charset="-122"/>
                <a:ea typeface="宋体" panose="02010600030101010101" pitchFamily="2" charset="-122"/>
              </a:rPr>
              <a:t>shadow model</a:t>
            </a:r>
            <a:r>
              <a:rPr lang="zh-CN" altLang="en-US" sz="1000" dirty="0">
                <a:latin typeface="宋体" panose="02010600030101010101" pitchFamily="2" charset="-122"/>
                <a:ea typeface="宋体" panose="02010600030101010101" pitchFamily="2" charset="-122"/>
              </a:rPr>
              <a:t>，即我们可以不使用目标模型的训练数据以及具体的模型参数，（后续研究表明，甚至可以不使用与目标模型相同的模型）</a:t>
            </a:r>
            <a:endParaRPr lang="en-US" altLang="zh-CN" sz="1000" dirty="0">
              <a:latin typeface="宋体" panose="02010600030101010101" pitchFamily="2" charset="-122"/>
              <a:ea typeface="宋体" panose="02010600030101010101" pitchFamily="2" charset="-122"/>
            </a:endParaRPr>
          </a:p>
          <a:p>
            <a:pPr marL="0" indent="0">
              <a:buNone/>
            </a:pPr>
            <a:r>
              <a:rPr lang="zh-CN" altLang="en-US" sz="1000" dirty="0">
                <a:latin typeface="宋体" panose="02010600030101010101" pitchFamily="2" charset="-122"/>
                <a:ea typeface="宋体" panose="02010600030101010101" pitchFamily="2" charset="-122"/>
              </a:rPr>
              <a:t>可以使用自己的数据样本（格式要与目标模型的训练样本相同，这是比较容易得到的）训练与目标模型架构相同的模型然后使得</a:t>
            </a:r>
            <a:r>
              <a:rPr lang="en-US" altLang="zh-CN" sz="1000" b="1" dirty="0">
                <a:latin typeface="宋体" panose="02010600030101010101" pitchFamily="2" charset="-122"/>
                <a:ea typeface="宋体" panose="02010600030101010101" pitchFamily="2" charset="-122"/>
              </a:rPr>
              <a:t>shadow model</a:t>
            </a:r>
            <a:r>
              <a:rPr lang="zh-CN" altLang="en-US" sz="1000" dirty="0">
                <a:latin typeface="宋体" panose="02010600030101010101" pitchFamily="2" charset="-122"/>
                <a:ea typeface="宋体" panose="02010600030101010101" pitchFamily="2" charset="-122"/>
              </a:rPr>
              <a:t>对于数据样本的输出与目标模型近即可</a:t>
            </a:r>
            <a:endParaRPr lang="en-US" altLang="zh-CN" sz="1000" dirty="0">
              <a:latin typeface="宋体" panose="02010600030101010101" pitchFamily="2" charset="-122"/>
              <a:ea typeface="宋体" panose="02010600030101010101" pitchFamily="2" charset="-122"/>
            </a:endParaRPr>
          </a:p>
          <a:p>
            <a:pPr marL="0" indent="0">
              <a:buNone/>
            </a:pPr>
            <a:endParaRPr lang="en-US" altLang="zh-CN" sz="1000"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3353066" y="2146300"/>
            <a:ext cx="4266667" cy="3485714"/>
          </a:xfrm>
          <a:prstGeom prst="rect">
            <a:avLst/>
          </a:prstGeom>
        </p:spPr>
      </p:pic>
      <p:sp>
        <p:nvSpPr>
          <p:cNvPr id="7" name="文本框 6"/>
          <p:cNvSpPr txBox="1"/>
          <p:nvPr/>
        </p:nvSpPr>
        <p:spPr>
          <a:xfrm>
            <a:off x="952500" y="5858451"/>
            <a:ext cx="6096000" cy="307777"/>
          </a:xfrm>
          <a:prstGeom prst="rect">
            <a:avLst/>
          </a:prstGeom>
          <a:noFill/>
        </p:spPr>
        <p:txBody>
          <a:bodyPr wrap="square">
            <a:spAutoFit/>
          </a:bodyPr>
          <a:lstStyle/>
          <a:p>
            <a:pPr marL="0" indent="0">
              <a:buNone/>
            </a:pPr>
            <a:r>
              <a:rPr lang="zh-CN" altLang="en-US" sz="1400" dirty="0">
                <a:latin typeface="宋体" panose="02010600030101010101" pitchFamily="2" charset="-122"/>
                <a:ea typeface="宋体" panose="02010600030101010101" pitchFamily="2" charset="-122"/>
              </a:rPr>
              <a:t>但是</a:t>
            </a:r>
            <a:r>
              <a:rPr lang="en-US" altLang="zh-CN" sz="1400" dirty="0">
                <a:latin typeface="宋体" panose="02010600030101010101" pitchFamily="2" charset="-122"/>
                <a:ea typeface="宋体" panose="02010600030101010101" pitchFamily="2" charset="-122"/>
              </a:rPr>
              <a:t>shadow training dataset</a:t>
            </a:r>
            <a:r>
              <a:rPr lang="zh-CN" altLang="en-US" sz="1400" dirty="0">
                <a:latin typeface="宋体" panose="02010600030101010101" pitchFamily="2" charset="-122"/>
                <a:ea typeface="宋体" panose="02010600030101010101" pitchFamily="2" charset="-122"/>
              </a:rPr>
              <a:t>比较难获得</a:t>
            </a:r>
            <a:endParaRPr lang="en-US" altLang="zh-CN" sz="1400" dirty="0">
              <a:latin typeface="宋体" panose="02010600030101010101" pitchFamily="2" charset="-122"/>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409575"/>
          </a:xfrm>
        </p:spPr>
        <p:txBody>
          <a:bodyPr>
            <a:normAutofit fontScale="90000"/>
          </a:bodyPr>
          <a:lstStyle/>
          <a:p>
            <a:r>
              <a:rPr lang="zh-CN" altLang="en-US" sz="2800" dirty="0">
                <a:latin typeface="宋体" panose="02010600030101010101" pitchFamily="2" charset="-122"/>
                <a:ea typeface="宋体" panose="02010600030101010101" pitchFamily="2" charset="-122"/>
              </a:rPr>
              <a:t>三种生成</a:t>
            </a:r>
            <a:r>
              <a:rPr lang="en-US" altLang="zh-CN" sz="2800" dirty="0">
                <a:latin typeface="宋体" panose="02010600030101010101" pitchFamily="2" charset="-122"/>
                <a:ea typeface="宋体" panose="02010600030101010101" pitchFamily="2" charset="-122"/>
              </a:rPr>
              <a:t>shadow training dataset</a:t>
            </a:r>
            <a:r>
              <a:rPr lang="zh-CN" altLang="en-US" sz="2800" dirty="0">
                <a:latin typeface="宋体" panose="02010600030101010101" pitchFamily="2" charset="-122"/>
                <a:ea typeface="宋体" panose="02010600030101010101" pitchFamily="2" charset="-122"/>
              </a:rPr>
              <a:t>的方法</a:t>
            </a:r>
            <a:endParaRPr lang="zh-CN" altLang="en-US" sz="2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1193800" y="5512445"/>
            <a:ext cx="7531100" cy="337840"/>
          </a:xfrm>
        </p:spPr>
        <p:txBody>
          <a:bodyPr>
            <a:noAutofit/>
          </a:bodyPr>
          <a:lstStyle/>
          <a:p>
            <a:pPr marL="0" indent="0">
              <a:buNone/>
            </a:pPr>
            <a:r>
              <a:rPr lang="zh-CN" altLang="en-US" sz="1800" dirty="0">
                <a:latin typeface="宋体" panose="02010600030101010101" pitchFamily="2" charset="-122"/>
                <a:ea typeface="宋体" panose="02010600030101010101" pitchFamily="2" charset="-122"/>
              </a:rPr>
              <a:t>其实都是对于目标模型的训练集有一些先验知识</a:t>
            </a:r>
            <a:endParaRPr lang="zh-CN" altLang="en-US" sz="1800" dirty="0">
              <a:latin typeface="宋体" panose="02010600030101010101" pitchFamily="2" charset="-122"/>
              <a:ea typeface="宋体" panose="02010600030101010101" pitchFamily="2" charset="-122"/>
            </a:endParaRPr>
          </a:p>
        </p:txBody>
      </p:sp>
      <p:sp>
        <p:nvSpPr>
          <p:cNvPr id="5" name="文本框 4"/>
          <p:cNvSpPr txBox="1"/>
          <p:nvPr/>
        </p:nvSpPr>
        <p:spPr>
          <a:xfrm>
            <a:off x="1193800" y="1176635"/>
            <a:ext cx="6096000" cy="923330"/>
          </a:xfrm>
          <a:prstGeom prst="rect">
            <a:avLst/>
          </a:prstGeom>
          <a:noFill/>
        </p:spPr>
        <p:txBody>
          <a:bodyPr wrap="square">
            <a:spAutoFit/>
          </a:bodyPr>
          <a:lstStyle/>
          <a:p>
            <a:r>
              <a:rPr lang="en-US" altLang="zh-CN" dirty="0"/>
              <a:t>A</a:t>
            </a:r>
            <a:r>
              <a:rPr lang="zh-CN" altLang="en-US" dirty="0"/>
              <a:t>、基于模型的合成。</a:t>
            </a:r>
            <a:r>
              <a:rPr lang="en-US" altLang="zh-CN" dirty="0"/>
              <a:t>(Model-based synthesis)</a:t>
            </a:r>
            <a:r>
              <a:rPr lang="zh-CN" altLang="en-US" dirty="0"/>
              <a:t>如果攻击者没有真正的训练数据</a:t>
            </a:r>
            <a:r>
              <a:rPr lang="en-US" altLang="zh-CN" dirty="0"/>
              <a:t>,</a:t>
            </a:r>
            <a:r>
              <a:rPr lang="zh-CN" altLang="en-US" dirty="0"/>
              <a:t>也没有关于其分布的任何统计</a:t>
            </a:r>
            <a:r>
              <a:rPr lang="en-US" altLang="zh-CN" dirty="0"/>
              <a:t>,</a:t>
            </a:r>
            <a:r>
              <a:rPr lang="zh-CN" altLang="en-US" dirty="0"/>
              <a:t>他可以利用目标模型本身为影子模型生成合成训练数据。</a:t>
            </a:r>
            <a:endParaRPr lang="zh-CN" altLang="en-US" dirty="0"/>
          </a:p>
        </p:txBody>
      </p:sp>
      <p:sp>
        <p:nvSpPr>
          <p:cNvPr id="7" name="文本框 6"/>
          <p:cNvSpPr txBox="1"/>
          <p:nvPr/>
        </p:nvSpPr>
        <p:spPr>
          <a:xfrm>
            <a:off x="1193800" y="2402482"/>
            <a:ext cx="6096000" cy="923330"/>
          </a:xfrm>
          <a:prstGeom prst="rect">
            <a:avLst/>
          </a:prstGeom>
          <a:noFill/>
        </p:spPr>
        <p:txBody>
          <a:bodyPr wrap="square">
            <a:spAutoFit/>
          </a:bodyPr>
          <a:lstStyle/>
          <a:p>
            <a:r>
              <a:rPr lang="en-US" altLang="zh-CN" dirty="0"/>
              <a:t>B</a:t>
            </a:r>
            <a:r>
              <a:rPr lang="zh-CN" altLang="en-US" dirty="0"/>
              <a:t>、基于统计的合成。</a:t>
            </a:r>
            <a:r>
              <a:rPr lang="en-US" altLang="zh-CN" dirty="0"/>
              <a:t>(Statistics-based synthesis)</a:t>
            </a:r>
            <a:r>
              <a:rPr lang="zh-CN" altLang="en-US" dirty="0"/>
              <a:t>攻击者可能拥有被提取目标模型所需训练数据的总体集合（</a:t>
            </a:r>
            <a:r>
              <a:rPr lang="en-US" altLang="zh-CN" dirty="0"/>
              <a:t>population</a:t>
            </a:r>
            <a:r>
              <a:rPr lang="zh-CN" altLang="en-US" dirty="0"/>
              <a:t>）的一些统计信息。</a:t>
            </a:r>
            <a:endParaRPr lang="zh-CN" altLang="en-US" dirty="0"/>
          </a:p>
        </p:txBody>
      </p:sp>
      <p:sp>
        <p:nvSpPr>
          <p:cNvPr id="9" name="文本框 8"/>
          <p:cNvSpPr txBox="1"/>
          <p:nvPr/>
        </p:nvSpPr>
        <p:spPr>
          <a:xfrm>
            <a:off x="1193800" y="3834706"/>
            <a:ext cx="6096000" cy="923330"/>
          </a:xfrm>
          <a:prstGeom prst="rect">
            <a:avLst/>
          </a:prstGeom>
          <a:noFill/>
        </p:spPr>
        <p:txBody>
          <a:bodyPr wrap="square">
            <a:spAutoFit/>
          </a:bodyPr>
          <a:lstStyle/>
          <a:p>
            <a:r>
              <a:rPr lang="en-US" altLang="zh-CN" dirty="0"/>
              <a:t>C</a:t>
            </a:r>
            <a:r>
              <a:rPr lang="zh-CN" altLang="en-US" dirty="0"/>
              <a:t>、有噪的真实数据。</a:t>
            </a:r>
            <a:r>
              <a:rPr lang="en-US" altLang="zh-CN" dirty="0"/>
              <a:t>(Noisy real data)</a:t>
            </a:r>
            <a:r>
              <a:rPr lang="zh-CN" altLang="en-US" dirty="0"/>
              <a:t>攻击者可以访问一些与目标模型的训练数据类似的数据，这些数据可以被视为“噪音”版本。</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1163300" cy="1120775"/>
          </a:xfrm>
        </p:spPr>
        <p:txBody>
          <a:bodyPr>
            <a:normAutofit/>
          </a:bodyPr>
          <a:lstStyle/>
          <a:p>
            <a:r>
              <a:rPr lang="en-US" altLang="zh-CN" sz="2800" dirty="0" err="1">
                <a:latin typeface="Times New Roman" panose="02020603050405020304" pitchFamily="18" charset="0"/>
                <a:cs typeface="Times New Roman" panose="02020603050405020304" pitchFamily="18" charset="0"/>
              </a:rPr>
              <a:t>ML-leaks:Model</a:t>
            </a:r>
            <a:r>
              <a:rPr lang="en-US" altLang="zh-CN" sz="2800" dirty="0">
                <a:latin typeface="Times New Roman" panose="02020603050405020304" pitchFamily="18" charset="0"/>
                <a:cs typeface="Times New Roman" panose="02020603050405020304" pitchFamily="18" charset="0"/>
              </a:rPr>
              <a:t> and Data Independent Membership Inference Attacks and Defenses on Machine Learning Models</a:t>
            </a:r>
            <a:endParaRPr lang="zh-CN" altLang="en-US" sz="2800"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normAutofit/>
          </a:bodyPr>
          <a:lstStyle/>
          <a:p>
            <a:pPr marL="0" indent="0">
              <a:buNone/>
            </a:pPr>
            <a:r>
              <a:rPr lang="en-US" altLang="zh-CN" sz="1400" dirty="0">
                <a:latin typeface="宋体" panose="02010600030101010101" pitchFamily="2" charset="-122"/>
                <a:ea typeface="宋体" panose="02010600030101010101" pitchFamily="2" charset="-122"/>
              </a:rPr>
              <a:t>Shokri</a:t>
            </a:r>
            <a:r>
              <a:rPr lang="zh-CN" altLang="en-US" sz="1400" dirty="0">
                <a:latin typeface="宋体" panose="02010600030101010101" pitchFamily="2" charset="-122"/>
                <a:ea typeface="宋体" panose="02010600030101010101" pitchFamily="2" charset="-122"/>
              </a:rPr>
              <a:t>等人的工作基于两个主要假设：</a:t>
            </a:r>
            <a:endParaRPr lang="en-US" altLang="zh-CN" sz="1400" dirty="0">
              <a:latin typeface="宋体" panose="02010600030101010101" pitchFamily="2" charset="-122"/>
              <a:ea typeface="宋体" panose="02010600030101010101" pitchFamily="2" charset="-122"/>
            </a:endParaRPr>
          </a:p>
          <a:p>
            <a:pPr marL="0" indent="0">
              <a:buNone/>
            </a:pPr>
            <a:r>
              <a:rPr lang="zh-CN" altLang="en-US" sz="1400" dirty="0">
                <a:latin typeface="宋体" panose="02010600030101010101" pitchFamily="2" charset="-122"/>
                <a:ea typeface="宋体" panose="02010600030101010101" pitchFamily="2" charset="-122"/>
              </a:rPr>
              <a:t>第一，建立多个影子模型，每个模型与目标模型具有相同的结构，这可以通过使用与训练目标模型相同的</a:t>
            </a:r>
            <a:r>
              <a:rPr lang="en-US" altLang="zh-CN" sz="1400" dirty="0" err="1">
                <a:latin typeface="宋体" panose="02010600030101010101" pitchFamily="2" charset="-122"/>
                <a:ea typeface="宋体" panose="02010600030101010101" pitchFamily="2" charset="-122"/>
              </a:rPr>
              <a:t>MLaaS</a:t>
            </a:r>
            <a:r>
              <a:rPr lang="zh-CN" altLang="en-US" sz="1400" dirty="0">
                <a:latin typeface="宋体" panose="02010600030101010101" pitchFamily="2" charset="-122"/>
                <a:ea typeface="宋体" panose="02010600030101010101" pitchFamily="2" charset="-122"/>
              </a:rPr>
              <a:t>实现</a:t>
            </a:r>
            <a:endParaRPr lang="en-US" altLang="zh-CN" sz="1400" dirty="0">
              <a:latin typeface="宋体" panose="02010600030101010101" pitchFamily="2" charset="-122"/>
              <a:ea typeface="宋体" panose="02010600030101010101" pitchFamily="2" charset="-122"/>
            </a:endParaRPr>
          </a:p>
          <a:p>
            <a:pPr marL="0" indent="0">
              <a:buNone/>
            </a:pPr>
            <a:r>
              <a:rPr lang="zh-CN" altLang="en-US" sz="1400" dirty="0">
                <a:latin typeface="宋体" panose="02010600030101010101" pitchFamily="2" charset="-122"/>
                <a:ea typeface="宋体" panose="02010600030101010101" pitchFamily="2" charset="-122"/>
              </a:rPr>
              <a:t>第二，用于训练影子模型的数据集来自与目标模型的训练数据相同的分布，</a:t>
            </a:r>
            <a:r>
              <a:rPr lang="en-US" altLang="zh-CN" sz="1400" dirty="0" err="1">
                <a:latin typeface="宋体" panose="02010600030101010101" pitchFamily="2" charset="-122"/>
                <a:ea typeface="宋体" panose="02010600030101010101" pitchFamily="2" charset="-122"/>
              </a:rPr>
              <a:t>Shokir</a:t>
            </a:r>
            <a:r>
              <a:rPr lang="zh-CN" altLang="en-US" sz="1400" dirty="0">
                <a:latin typeface="宋体" panose="02010600030101010101" pitchFamily="2" charset="-122"/>
                <a:ea typeface="宋体" panose="02010600030101010101" pitchFamily="2" charset="-122"/>
              </a:rPr>
              <a:t>等人也进一步提出了合成数据集来放宽这一假设，但由于效率原因此法只适用于包含二值特征的数据集</a:t>
            </a:r>
            <a:endParaRPr lang="en-US" altLang="zh-CN" sz="1400" dirty="0">
              <a:latin typeface="宋体" panose="02010600030101010101" pitchFamily="2" charset="-122"/>
              <a:ea typeface="宋体" panose="02010600030101010101" pitchFamily="2" charset="-122"/>
            </a:endParaRPr>
          </a:p>
          <a:p>
            <a:pPr marL="0" indent="0">
              <a:buNone/>
            </a:pPr>
            <a:endParaRPr lang="en-US" altLang="zh-CN" sz="1400" dirty="0">
              <a:latin typeface="宋体" panose="02010600030101010101" pitchFamily="2" charset="-122"/>
              <a:ea typeface="宋体" panose="02010600030101010101" pitchFamily="2" charset="-122"/>
            </a:endParaRPr>
          </a:p>
          <a:p>
            <a:pPr marL="0" indent="0">
              <a:buNone/>
            </a:pPr>
            <a:r>
              <a:rPr lang="zh-CN" altLang="en-US" sz="1400" dirty="0">
                <a:latin typeface="宋体" panose="02010600030101010101" pitchFamily="2" charset="-122"/>
                <a:ea typeface="宋体" panose="02010600030101010101" pitchFamily="2" charset="-122"/>
              </a:rPr>
              <a:t>本文</a:t>
            </a:r>
            <a:r>
              <a:rPr lang="zh-CN" altLang="en-US" sz="1400" dirty="0">
                <a:solidFill>
                  <a:srgbClr val="FF0000"/>
                </a:solidFill>
                <a:latin typeface="宋体" panose="02010600030101010101" pitchFamily="2" charset="-122"/>
                <a:ea typeface="宋体" panose="02010600030101010101" pitchFamily="2" charset="-122"/>
              </a:rPr>
              <a:t>将逐步放宽这些假设</a:t>
            </a:r>
            <a:r>
              <a:rPr lang="zh-CN" altLang="en-US" sz="1400" dirty="0">
                <a:latin typeface="宋体" panose="02010600030101010101" pitchFamily="2" charset="-122"/>
                <a:ea typeface="宋体" panose="02010600030101010101" pitchFamily="2" charset="-122"/>
              </a:rPr>
              <a:t>，表明更广泛的攻击场景是可能的，同时也提出了两种防御机制</a:t>
            </a:r>
            <a:endParaRPr lang="en-US" altLang="zh-CN" sz="1400" dirty="0">
              <a:latin typeface="宋体" panose="02010600030101010101" pitchFamily="2" charset="-122"/>
              <a:ea typeface="宋体" panose="02010600030101010101" pitchFamily="2" charset="-122"/>
            </a:endParaRPr>
          </a:p>
          <a:p>
            <a:pPr marL="0" indent="0">
              <a:buNone/>
            </a:pPr>
            <a:endParaRPr lang="en-US" altLang="zh-CN" sz="1400" dirty="0">
              <a:latin typeface="宋体" panose="02010600030101010101" pitchFamily="2" charset="-122"/>
              <a:ea typeface="宋体" panose="02010600030101010101" pitchFamily="2" charset="-122"/>
            </a:endParaRPr>
          </a:p>
          <a:p>
            <a:pPr marL="0" indent="0">
              <a:buNone/>
            </a:pPr>
            <a:endParaRPr lang="en-US" altLang="zh-CN" sz="1400" dirty="0">
              <a:latin typeface="宋体" panose="02010600030101010101" pitchFamily="2" charset="-122"/>
              <a:ea typeface="宋体" panose="02010600030101010101" pitchFamily="2" charset="-122"/>
            </a:endParaRPr>
          </a:p>
          <a:p>
            <a:pPr marL="0" indent="0">
              <a:buNone/>
            </a:pPr>
            <a:endParaRPr lang="zh-CN" altLang="en-US" sz="140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102843" y="4001294"/>
            <a:ext cx="9986314" cy="18890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61975"/>
          </a:xfrm>
        </p:spPr>
        <p:txBody>
          <a:bodyPr>
            <a:normAutofit/>
          </a:bodyPr>
          <a:lstStyle/>
          <a:p>
            <a:r>
              <a:rPr lang="zh-CN" altLang="en-US" sz="2800" dirty="0">
                <a:latin typeface="Times New Roman" panose="02020603050405020304" pitchFamily="18" charset="0"/>
                <a:cs typeface="Times New Roman" panose="02020603050405020304" pitchFamily="18" charset="0"/>
              </a:rPr>
              <a:t>训练攻击模型</a:t>
            </a:r>
            <a:endParaRPr lang="zh-CN" altLang="en-US" sz="2800" dirty="0">
              <a:latin typeface="Times New Roman" panose="02020603050405020304" pitchFamily="18" charset="0"/>
              <a:cs typeface="Times New Roman" panose="02020603050405020304" pitchFamily="18" charset="0"/>
            </a:endParaRPr>
          </a:p>
        </p:txBody>
      </p:sp>
      <p:pic>
        <p:nvPicPr>
          <p:cNvPr id="5" name="内容占位符 4"/>
          <p:cNvPicPr>
            <a:picLocks noGrp="1" noChangeAspect="1"/>
          </p:cNvPicPr>
          <p:nvPr>
            <p:ph idx="1"/>
          </p:nvPr>
        </p:nvPicPr>
        <p:blipFill>
          <a:blip r:embed="rId1"/>
          <a:stretch>
            <a:fillRect/>
          </a:stretch>
        </p:blipFill>
        <p:spPr>
          <a:xfrm>
            <a:off x="1815047" y="2514600"/>
            <a:ext cx="8561905" cy="3390476"/>
          </a:xfrm>
        </p:spPr>
      </p:pic>
      <p:sp>
        <p:nvSpPr>
          <p:cNvPr id="7" name="文本框 6"/>
          <p:cNvSpPr txBox="1"/>
          <p:nvPr/>
        </p:nvSpPr>
        <p:spPr>
          <a:xfrm>
            <a:off x="1117600" y="959856"/>
            <a:ext cx="9931400" cy="923330"/>
          </a:xfrm>
          <a:prstGeom prst="rect">
            <a:avLst/>
          </a:prstGeom>
          <a:noFill/>
        </p:spPr>
        <p:txBody>
          <a:bodyPr wrap="square">
            <a:spAutoFit/>
          </a:bodyPr>
          <a:lstStyle/>
          <a:p>
            <a:r>
              <a:rPr lang="zh-CN" altLang="en-US" dirty="0"/>
              <a:t>使用自己的训练数据集和相同大小的不相交测试集来查询每个影子模型。训练数据集上的输出被标记为“</a:t>
            </a:r>
            <a:r>
              <a:rPr lang="en-US" altLang="zh-CN" dirty="0"/>
              <a:t>in”</a:t>
            </a:r>
            <a:r>
              <a:rPr lang="zh-CN" altLang="en-US" dirty="0"/>
              <a:t>，其余的标记为“</a:t>
            </a:r>
            <a:r>
              <a:rPr lang="en-US" altLang="zh-CN" dirty="0"/>
              <a:t>out”</a:t>
            </a:r>
            <a:r>
              <a:rPr lang="zh-CN" altLang="en-US" dirty="0"/>
              <a:t>。现在，攻击者拥有记录的数据集、影子模型的相应输出和输入</a:t>
            </a:r>
            <a:r>
              <a:rPr lang="en-US" altLang="zh-CN" dirty="0"/>
              <a:t>/</a:t>
            </a:r>
            <a:r>
              <a:rPr lang="zh-CN" altLang="en-US" dirty="0"/>
              <a:t>输出标签。攻击模型的目标是从记录和相应的输出中推断出标签</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12198"/>
            <a:ext cx="10515600" cy="612775"/>
          </a:xfrm>
        </p:spPr>
        <p:txBody>
          <a:bodyPr>
            <a:normAutofit/>
          </a:bodyPr>
          <a:lstStyle/>
          <a:p>
            <a:r>
              <a:rPr lang="zh-CN" altLang="en-US" sz="2800" dirty="0">
                <a:latin typeface="宋体" panose="02010600030101010101" pitchFamily="2" charset="-122"/>
                <a:ea typeface="宋体" panose="02010600030101010101" pitchFamily="2" charset="-122"/>
              </a:rPr>
              <a:t>攻击一：不知模型</a:t>
            </a:r>
            <a:endParaRPr lang="zh-CN" altLang="en-US" sz="2800" dirty="0">
              <a:latin typeface="宋体" panose="02010600030101010101" pitchFamily="2" charset="-122"/>
              <a:ea typeface="宋体" panose="02010600030101010101" pitchFamily="2" charset="-122"/>
            </a:endParaRPr>
          </a:p>
        </p:txBody>
      </p:sp>
      <p:sp>
        <p:nvSpPr>
          <p:cNvPr id="5" name="内容占位符 2"/>
          <p:cNvSpPr txBox="1"/>
          <p:nvPr/>
        </p:nvSpPr>
        <p:spPr>
          <a:xfrm>
            <a:off x="838200" y="2031663"/>
            <a:ext cx="10515600" cy="17176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zh-CN" altLang="en-US" sz="140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295400" y="2422538"/>
            <a:ext cx="8851900" cy="2607822"/>
          </a:xfrm>
          <a:prstGeom prst="rect">
            <a:avLst/>
          </a:prstGeom>
        </p:spPr>
      </p:pic>
      <p:sp>
        <p:nvSpPr>
          <p:cNvPr id="9" name="文本框 8"/>
          <p:cNvSpPr txBox="1"/>
          <p:nvPr/>
        </p:nvSpPr>
        <p:spPr>
          <a:xfrm>
            <a:off x="1295400" y="5294494"/>
            <a:ext cx="9067800" cy="307777"/>
          </a:xfrm>
          <a:prstGeom prst="rect">
            <a:avLst/>
          </a:prstGeom>
          <a:noFill/>
        </p:spPr>
        <p:txBody>
          <a:bodyPr wrap="square">
            <a:spAutoFit/>
          </a:bodyPr>
          <a:lstStyle/>
          <a:p>
            <a:r>
              <a:rPr lang="zh-CN" altLang="en-US" sz="1400" dirty="0">
                <a:latin typeface="宋体" panose="02010600030101010101" pitchFamily="2" charset="-122"/>
                <a:ea typeface="宋体" panose="02010600030101010101" pitchFamily="2" charset="-122"/>
              </a:rPr>
              <a:t>本攻击方法的精确率和召回率与 </a:t>
            </a:r>
            <a:r>
              <a:rPr lang="en-US" altLang="zh-CN" sz="1400" dirty="0">
                <a:latin typeface="宋体" panose="02010600030101010101" pitchFamily="2" charset="-122"/>
                <a:ea typeface="宋体" panose="02010600030101010101" pitchFamily="2" charset="-122"/>
              </a:rPr>
              <a:t>Shokri </a:t>
            </a:r>
            <a:r>
              <a:rPr lang="zh-CN" altLang="en-US" sz="1400" dirty="0">
                <a:latin typeface="宋体" panose="02010600030101010101" pitchFamily="2" charset="-122"/>
                <a:ea typeface="宋体" panose="02010600030101010101" pitchFamily="2" charset="-122"/>
              </a:rPr>
              <a:t>等人的几乎一致，在部分数据集上甚至表现更优。且大大减少攻击开销</a:t>
            </a:r>
            <a:endParaRPr lang="zh-CN" altLang="en-US" sz="1400" dirty="0">
              <a:latin typeface="宋体" panose="02010600030101010101" pitchFamily="2" charset="-122"/>
              <a:ea typeface="宋体" panose="02010600030101010101" pitchFamily="2" charset="-122"/>
            </a:endParaRPr>
          </a:p>
        </p:txBody>
      </p:sp>
      <p:sp>
        <p:nvSpPr>
          <p:cNvPr id="10" name="文本框 9"/>
          <p:cNvSpPr txBox="1"/>
          <p:nvPr/>
        </p:nvSpPr>
        <p:spPr>
          <a:xfrm>
            <a:off x="838200" y="1040286"/>
            <a:ext cx="10680700" cy="646331"/>
          </a:xfrm>
          <a:prstGeom prst="rect">
            <a:avLst/>
          </a:prstGeom>
          <a:noFill/>
        </p:spPr>
        <p:txBody>
          <a:bodyPr wrap="square">
            <a:spAutoFit/>
          </a:bodyPr>
          <a:lstStyle/>
          <a:p>
            <a:pPr marL="0" indent="0">
              <a:buNone/>
            </a:pPr>
            <a:r>
              <a:rPr lang="zh-CN" altLang="en-US" sz="1800" dirty="0">
                <a:latin typeface="宋体" panose="02010600030101010101" pitchFamily="2" charset="-122"/>
                <a:ea typeface="宋体" panose="02010600030101010101" pitchFamily="2" charset="-122"/>
              </a:rPr>
              <a:t>  第一轮攻击只用到了一个影子模型，大大降低了攻击成本，还通过</a:t>
            </a:r>
            <a:r>
              <a:rPr lang="zh-CN" altLang="en-US" sz="1800" b="1" dirty="0">
                <a:latin typeface="宋体" panose="02010600030101010101" pitchFamily="2" charset="-122"/>
                <a:ea typeface="宋体" panose="02010600030101010101" pitchFamily="2" charset="-122"/>
              </a:rPr>
              <a:t>组合攻击</a:t>
            </a:r>
            <a:r>
              <a:rPr lang="zh-CN" altLang="en-US" sz="1800" dirty="0">
                <a:latin typeface="宋体" panose="02010600030101010101" pitchFamily="2" charset="-122"/>
                <a:ea typeface="宋体" panose="02010600030101010101" pitchFamily="2" charset="-122"/>
              </a:rPr>
              <a:t>使得攻击者无需了解目标模型的种类。</a:t>
            </a:r>
            <a:endParaRPr lang="zh-CN" altLang="en-US" sz="18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23875"/>
          </a:xfrm>
        </p:spPr>
        <p:txBody>
          <a:bodyPr>
            <a:normAutofit/>
          </a:bodyPr>
          <a:lstStyle/>
          <a:p>
            <a:r>
              <a:rPr lang="zh-CN" altLang="en-US" sz="1800" dirty="0">
                <a:latin typeface="宋体" panose="02010600030101010101" pitchFamily="2" charset="-122"/>
                <a:ea typeface="宋体" panose="02010600030101010101" pitchFamily="2" charset="-122"/>
              </a:rPr>
              <a:t>如何放宽攻击者必须知道目标模型的算法与超参数的情况这一假设？</a:t>
            </a:r>
            <a:endParaRPr lang="zh-CN" altLang="en-US" sz="1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838200" y="1152525"/>
            <a:ext cx="10515600" cy="4351338"/>
          </a:xfrm>
        </p:spPr>
        <p:txBody>
          <a:bodyPr>
            <a:normAutofit/>
          </a:bodyPr>
          <a:lstStyle/>
          <a:p>
            <a:r>
              <a:rPr lang="zh-CN" altLang="en-US" sz="1400" dirty="0">
                <a:latin typeface="宋体" panose="02010600030101010101" pitchFamily="2" charset="-122"/>
                <a:ea typeface="宋体" panose="02010600030101010101" pitchFamily="2" charset="-122"/>
              </a:rPr>
              <a:t>不知超参数</a:t>
            </a:r>
            <a:endParaRPr lang="en-US" altLang="zh-CN" sz="1400" dirty="0">
              <a:latin typeface="宋体" panose="02010600030101010101" pitchFamily="2" charset="-122"/>
              <a:ea typeface="宋体" panose="02010600030101010101" pitchFamily="2" charset="-122"/>
            </a:endParaRPr>
          </a:p>
          <a:p>
            <a:pPr lvl="1"/>
            <a:r>
              <a:rPr lang="zh-CN" altLang="en-US" sz="1400" dirty="0">
                <a:latin typeface="宋体" panose="02010600030101010101" pitchFamily="2" charset="-122"/>
                <a:ea typeface="宋体" panose="02010600030101010101" pitchFamily="2" charset="-122"/>
              </a:rPr>
              <a:t>假设参数减半（即将批尺寸、隐含单元和正则化参数减半）来训练影子模型时，就 </a:t>
            </a:r>
            <a:r>
              <a:rPr lang="en-US" altLang="zh-CN" sz="1400" dirty="0">
                <a:latin typeface="宋体" panose="02010600030101010101" pitchFamily="2" charset="-122"/>
                <a:ea typeface="宋体" panose="02010600030101010101" pitchFamily="2" charset="-122"/>
              </a:rPr>
              <a:t>Purchase-100 </a:t>
            </a:r>
            <a:r>
              <a:rPr lang="zh-CN" altLang="en-US" sz="1400" dirty="0">
                <a:latin typeface="宋体" panose="02010600030101010101" pitchFamily="2" charset="-122"/>
                <a:ea typeface="宋体" panose="02010600030101010101" pitchFamily="2" charset="-122"/>
              </a:rPr>
              <a:t>数据集而言，达到了</a:t>
            </a:r>
            <a:r>
              <a:rPr lang="en-US" altLang="zh-CN" sz="1400" dirty="0">
                <a:latin typeface="宋体" panose="02010600030101010101" pitchFamily="2" charset="-122"/>
                <a:ea typeface="宋体" panose="02010600030101010101" pitchFamily="2" charset="-122"/>
              </a:rPr>
              <a:t>0.86</a:t>
            </a:r>
            <a:r>
              <a:rPr lang="zh-CN" altLang="en-US" sz="1400" dirty="0">
                <a:latin typeface="宋体" panose="02010600030101010101" pitchFamily="2" charset="-122"/>
                <a:ea typeface="宋体" panose="02010600030101010101" pitchFamily="2" charset="-122"/>
              </a:rPr>
              <a:t>的精确率和</a:t>
            </a:r>
            <a:r>
              <a:rPr lang="en-US" altLang="zh-CN" sz="1400" dirty="0">
                <a:latin typeface="宋体" panose="02010600030101010101" pitchFamily="2" charset="-122"/>
                <a:ea typeface="宋体" panose="02010600030101010101" pitchFamily="2" charset="-122"/>
              </a:rPr>
              <a:t>0.83</a:t>
            </a:r>
            <a:r>
              <a:rPr lang="zh-CN" altLang="en-US" sz="1400" dirty="0">
                <a:latin typeface="宋体" panose="02010600030101010101" pitchFamily="2" charset="-122"/>
                <a:ea typeface="宋体" panose="02010600030101010101" pitchFamily="2" charset="-122"/>
              </a:rPr>
              <a:t>的召回率，这和先前的的结果几乎一致</a:t>
            </a:r>
            <a:endParaRPr lang="en-US" altLang="zh-CN" sz="1400" dirty="0">
              <a:latin typeface="宋体" panose="02010600030101010101" pitchFamily="2" charset="-122"/>
              <a:ea typeface="宋体" panose="02010600030101010101" pitchFamily="2" charset="-122"/>
            </a:endParaRPr>
          </a:p>
          <a:p>
            <a:pPr lvl="1"/>
            <a:r>
              <a:rPr lang="zh-CN" altLang="en-US" sz="1400" dirty="0">
                <a:latin typeface="宋体" panose="02010600030101010101" pitchFamily="2" charset="-122"/>
                <a:ea typeface="宋体" panose="02010600030101010101" pitchFamily="2" charset="-122"/>
              </a:rPr>
              <a:t>若用两倍参数来训练影子模型时，仍达到了</a:t>
            </a:r>
            <a:r>
              <a:rPr lang="en-US" altLang="zh-CN" sz="1400" dirty="0">
                <a:latin typeface="宋体" panose="02010600030101010101" pitchFamily="2" charset="-122"/>
                <a:ea typeface="宋体" panose="02010600030101010101" pitchFamily="2" charset="-122"/>
              </a:rPr>
              <a:t>0.82</a:t>
            </a:r>
            <a:r>
              <a:rPr lang="zh-CN" altLang="en-US" sz="1400" dirty="0">
                <a:latin typeface="宋体" panose="02010600030101010101" pitchFamily="2" charset="-122"/>
                <a:ea typeface="宋体" panose="02010600030101010101" pitchFamily="2" charset="-122"/>
              </a:rPr>
              <a:t>的精确率和</a:t>
            </a:r>
            <a:r>
              <a:rPr lang="en-US" altLang="zh-CN" sz="1400" dirty="0">
                <a:latin typeface="宋体" panose="02010600030101010101" pitchFamily="2" charset="-122"/>
                <a:ea typeface="宋体" panose="02010600030101010101" pitchFamily="2" charset="-122"/>
              </a:rPr>
              <a:t>0.80</a:t>
            </a:r>
            <a:r>
              <a:rPr lang="zh-CN" altLang="en-US" sz="1400" dirty="0">
                <a:latin typeface="宋体" panose="02010600030101010101" pitchFamily="2" charset="-122"/>
                <a:ea typeface="宋体" panose="02010600030101010101" pitchFamily="2" charset="-122"/>
              </a:rPr>
              <a:t>的召回率。在其他数据集上也得到了类似的结果</a:t>
            </a:r>
            <a:endParaRPr lang="en-US" altLang="zh-CN" sz="1400" dirty="0">
              <a:latin typeface="宋体" panose="02010600030101010101" pitchFamily="2" charset="-122"/>
              <a:ea typeface="宋体" panose="02010600030101010101" pitchFamily="2" charset="-122"/>
            </a:endParaRPr>
          </a:p>
          <a:p>
            <a:r>
              <a:rPr lang="zh-CN" altLang="en-US" sz="1400" dirty="0">
                <a:latin typeface="宋体" panose="02010600030101010101" pitchFamily="2" charset="-122"/>
                <a:ea typeface="宋体" panose="02010600030101010101" pitchFamily="2" charset="-122"/>
              </a:rPr>
              <a:t>不知模型</a:t>
            </a:r>
            <a:endParaRPr lang="en-US" altLang="zh-CN" sz="1400" dirty="0">
              <a:latin typeface="宋体" panose="02010600030101010101" pitchFamily="2" charset="-122"/>
              <a:ea typeface="宋体" panose="02010600030101010101" pitchFamily="2" charset="-122"/>
            </a:endParaRPr>
          </a:p>
          <a:p>
            <a:pPr lvl="1"/>
            <a:r>
              <a:rPr lang="zh-CN" altLang="en-US" sz="1400" dirty="0">
                <a:latin typeface="宋体" panose="02010600030101010101" pitchFamily="2" charset="-122"/>
                <a:ea typeface="宋体" panose="02010600030101010101" pitchFamily="2" charset="-122"/>
              </a:rPr>
              <a:t>假设不知道目标模型使用了何种分类算法，使用的方法是采用</a:t>
            </a:r>
            <a:r>
              <a:rPr lang="zh-CN" altLang="en-US" sz="1400" b="1" dirty="0">
                <a:latin typeface="宋体" panose="02010600030101010101" pitchFamily="2" charset="-122"/>
                <a:ea typeface="宋体" panose="02010600030101010101" pitchFamily="2" charset="-122"/>
              </a:rPr>
              <a:t>组合攻击</a:t>
            </a:r>
            <a:r>
              <a:rPr lang="zh-CN" altLang="en-US" sz="1400" dirty="0">
                <a:latin typeface="宋体" panose="02010600030101010101" pitchFamily="2" charset="-122"/>
                <a:ea typeface="宋体" panose="02010600030101010101" pitchFamily="2" charset="-122"/>
              </a:rPr>
              <a:t>（</a:t>
            </a:r>
            <a:r>
              <a:rPr lang="en-US" altLang="zh-CN" sz="1400" dirty="0">
                <a:latin typeface="宋体" panose="02010600030101010101" pitchFamily="2" charset="-122"/>
                <a:ea typeface="宋体" panose="02010600030101010101" pitchFamily="2" charset="-122"/>
              </a:rPr>
              <a:t>combined attack</a:t>
            </a:r>
            <a:r>
              <a:rPr lang="zh-CN" altLang="en-US" sz="1400" dirty="0">
                <a:latin typeface="宋体" panose="02010600030101010101" pitchFamily="2" charset="-122"/>
                <a:ea typeface="宋体" panose="02010600030101010101" pitchFamily="2" charset="-122"/>
              </a:rPr>
              <a:t>），即将一系列不同的分类器模型组合成一个影子模型，其中每个模型被称为</a:t>
            </a:r>
            <a:r>
              <a:rPr lang="zh-CN" altLang="en-US" sz="1400" b="1" dirty="0">
                <a:latin typeface="宋体" panose="02010600030101010101" pitchFamily="2" charset="-122"/>
                <a:ea typeface="宋体" panose="02010600030101010101" pitchFamily="2" charset="-122"/>
              </a:rPr>
              <a:t>次影子模型</a:t>
            </a:r>
            <a:endParaRPr lang="zh-CN" altLang="en-US" sz="1400" b="1" dirty="0">
              <a:latin typeface="宋体" panose="02010600030101010101" pitchFamily="2" charset="-122"/>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1747762" y="3822422"/>
            <a:ext cx="3107962" cy="2268338"/>
          </a:xfrm>
          <a:prstGeom prst="rect">
            <a:avLst/>
          </a:prstGeom>
        </p:spPr>
      </p:pic>
      <p:pic>
        <p:nvPicPr>
          <p:cNvPr id="8" name="图片 7"/>
          <p:cNvPicPr>
            <a:picLocks noChangeAspect="1"/>
          </p:cNvPicPr>
          <p:nvPr/>
        </p:nvPicPr>
        <p:blipFill>
          <a:blip r:embed="rId2"/>
          <a:stretch>
            <a:fillRect/>
          </a:stretch>
        </p:blipFill>
        <p:spPr>
          <a:xfrm>
            <a:off x="6044686" y="4113674"/>
            <a:ext cx="4729092" cy="16858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65175"/>
          </a:xfrm>
        </p:spPr>
        <p:txBody>
          <a:bodyPr>
            <a:normAutofit/>
          </a:bodyPr>
          <a:lstStyle/>
          <a:p>
            <a:r>
              <a:rPr lang="zh-CN" altLang="en-US" sz="2800" dirty="0">
                <a:latin typeface="宋体" panose="02010600030101010101" pitchFamily="2" charset="-122"/>
                <a:ea typeface="宋体" panose="02010600030101010101" pitchFamily="2" charset="-122"/>
              </a:rPr>
              <a:t>攻击三：后验概率最大</a:t>
            </a:r>
            <a:endParaRPr lang="zh-CN" altLang="en-US" sz="2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927100" y="1597025"/>
            <a:ext cx="10515600" cy="4351338"/>
          </a:xfrm>
        </p:spPr>
        <p:txBody>
          <a:bodyPr>
            <a:normAutofit/>
          </a:bodyPr>
          <a:lstStyle/>
          <a:p>
            <a:pPr marL="0" indent="0">
              <a:buNone/>
            </a:pPr>
            <a:r>
              <a:rPr lang="zh-CN" altLang="en-US" sz="1400" dirty="0">
                <a:latin typeface="宋体" panose="02010600030101010101" pitchFamily="2" charset="-122"/>
                <a:ea typeface="宋体" panose="02010600030101010101" pitchFamily="2" charset="-122"/>
              </a:rPr>
              <a:t>本轮攻击不再需要训练任何影子模型，也无需知晓目标模型及其数据分布，攻击者拥有的只是向目标模型查询目标数据点得到的后验概率。再拿最高的后验概率和一个确定的阀值相比，来确定是否为成员</a:t>
            </a:r>
            <a:endParaRPr lang="zh-CN" altLang="en-US" sz="1400" dirty="0">
              <a:latin typeface="宋体" panose="02010600030101010101" pitchFamily="2" charset="-122"/>
              <a:ea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36575"/>
          </a:xfrm>
        </p:spPr>
        <p:txBody>
          <a:bodyPr>
            <a:normAutofit/>
          </a:bodyPr>
          <a:lstStyle/>
          <a:p>
            <a:r>
              <a:rPr lang="zh-CN" altLang="en-US" sz="2800" dirty="0">
                <a:latin typeface="宋体" panose="02010600030101010101" pitchFamily="2" charset="-122"/>
                <a:ea typeface="宋体" panose="02010600030101010101" pitchFamily="2" charset="-122"/>
              </a:rPr>
              <a:t>攻击二：不知数据</a:t>
            </a:r>
            <a:endParaRPr lang="zh-CN" altLang="en-US" sz="2800" dirty="0">
              <a:latin typeface="宋体" panose="02010600030101010101" pitchFamily="2" charset="-122"/>
              <a:ea typeface="宋体" panose="02010600030101010101" pitchFamily="2" charset="-122"/>
            </a:endParaRPr>
          </a:p>
        </p:txBody>
      </p:sp>
      <p:sp>
        <p:nvSpPr>
          <p:cNvPr id="5" name="文本框 4"/>
          <p:cNvSpPr txBox="1"/>
          <p:nvPr/>
        </p:nvSpPr>
        <p:spPr>
          <a:xfrm>
            <a:off x="838200" y="1131865"/>
            <a:ext cx="9702800" cy="307777"/>
          </a:xfrm>
          <a:prstGeom prst="rect">
            <a:avLst/>
          </a:prstGeom>
          <a:noFill/>
        </p:spPr>
        <p:txBody>
          <a:bodyPr wrap="square">
            <a:spAutoFit/>
          </a:bodyPr>
          <a:lstStyle/>
          <a:p>
            <a:r>
              <a:rPr lang="zh-CN" altLang="en-US" sz="1400" dirty="0">
                <a:latin typeface="宋体" panose="02010600030101010101" pitchFamily="2" charset="-122"/>
                <a:ea typeface="宋体" panose="02010600030101010101" pitchFamily="2" charset="-122"/>
              </a:rPr>
              <a:t>第二轮攻击只用放宽了对数据来源的要求，</a:t>
            </a:r>
            <a:r>
              <a:rPr lang="zh-CN" altLang="en-US" sz="1400" b="1" dirty="0">
                <a:latin typeface="宋体" panose="02010600030101010101" pitchFamily="2" charset="-122"/>
                <a:ea typeface="宋体" panose="02010600030101010101" pitchFamily="2" charset="-122"/>
              </a:rPr>
              <a:t>数据转移攻击</a:t>
            </a:r>
            <a:r>
              <a:rPr lang="zh-CN" altLang="en-US" sz="1400" dirty="0">
                <a:latin typeface="宋体" panose="02010600030101010101" pitchFamily="2" charset="-122"/>
                <a:ea typeface="宋体" panose="02010600030101010101" pitchFamily="2" charset="-122"/>
              </a:rPr>
              <a:t>在实现成员推理攻击效果的同时也更具有普适性。</a:t>
            </a:r>
            <a:endParaRPr lang="zh-CN" altLang="en-US" sz="1400" dirty="0">
              <a:latin typeface="宋体" panose="02010600030101010101" pitchFamily="2" charset="-122"/>
              <a:ea typeface="宋体" panose="02010600030101010101" pitchFamily="2" charset="-122"/>
            </a:endParaRPr>
          </a:p>
        </p:txBody>
      </p:sp>
      <p:pic>
        <p:nvPicPr>
          <p:cNvPr id="7" name="图片 6"/>
          <p:cNvPicPr>
            <a:picLocks noChangeAspect="1"/>
          </p:cNvPicPr>
          <p:nvPr/>
        </p:nvPicPr>
        <p:blipFill>
          <a:blip r:embed="rId1"/>
          <a:stretch>
            <a:fillRect/>
          </a:stretch>
        </p:blipFill>
        <p:spPr>
          <a:xfrm>
            <a:off x="1701799" y="2285361"/>
            <a:ext cx="7975601" cy="42075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544238"/>
          </a:xfrm>
        </p:spPr>
        <p:txBody>
          <a:bodyPr>
            <a:normAutofit/>
          </a:bodyPr>
          <a:lstStyle/>
          <a:p>
            <a:r>
              <a:rPr lang="zh-CN" altLang="en-US" sz="2800" dirty="0">
                <a:latin typeface="宋体" panose="02010600030101010101" pitchFamily="2" charset="-122"/>
                <a:ea typeface="宋体" panose="02010600030101010101" pitchFamily="2" charset="-122"/>
              </a:rPr>
              <a:t>防御机制</a:t>
            </a:r>
            <a:endParaRPr lang="zh-CN" altLang="en-US" sz="2800" dirty="0">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a:xfrm>
            <a:off x="838200" y="1023456"/>
            <a:ext cx="10515600" cy="4351338"/>
          </a:xfrm>
        </p:spPr>
        <p:txBody>
          <a:bodyPr/>
          <a:lstStyle/>
          <a:p>
            <a:r>
              <a:rPr lang="zh-CN" altLang="en-US" sz="1800" dirty="0">
                <a:latin typeface="宋体" panose="02010600030101010101" pitchFamily="2" charset="-122"/>
                <a:ea typeface="宋体" panose="02010600030101010101" pitchFamily="2" charset="-122"/>
              </a:rPr>
              <a:t>丢弃</a:t>
            </a:r>
            <a:endParaRPr lang="en-US" altLang="zh-CN" sz="1800" dirty="0">
              <a:latin typeface="宋体" panose="02010600030101010101" pitchFamily="2" charset="-122"/>
              <a:ea typeface="宋体" panose="02010600030101010101" pitchFamily="2" charset="-122"/>
            </a:endParaRPr>
          </a:p>
          <a:p>
            <a:pPr marL="0" indent="0">
              <a:buNone/>
            </a:pPr>
            <a:r>
              <a:rPr lang="en-US" altLang="zh-CN" sz="1400" dirty="0">
                <a:latin typeface="宋体" panose="02010600030101010101" pitchFamily="2" charset="-122"/>
                <a:ea typeface="宋体" panose="02010600030101010101" pitchFamily="2" charset="-122"/>
              </a:rPr>
              <a:t>  </a:t>
            </a:r>
            <a:r>
              <a:rPr lang="zh-CN" altLang="en-US" sz="1400" dirty="0">
                <a:latin typeface="宋体" panose="02010600030101010101" pitchFamily="2" charset="-122"/>
                <a:ea typeface="宋体" panose="02010600030101010101" pitchFamily="2" charset="-122"/>
              </a:rPr>
              <a:t>在一个完全连通的神经网络模型中，通过在每次训练迭代中随机删除一个固定的边缘比例（丢失率）来执行该算法。本文对目标模型的输入层和隐藏层都应用了丢弃法，默认的丢弃率设为</a:t>
            </a:r>
            <a:r>
              <a:rPr lang="en-US" altLang="zh-CN" sz="1400" dirty="0">
                <a:latin typeface="宋体" panose="02010600030101010101" pitchFamily="2" charset="-122"/>
                <a:ea typeface="宋体" panose="02010600030101010101" pitchFamily="2" charset="-122"/>
              </a:rPr>
              <a:t>0.5</a:t>
            </a:r>
            <a:r>
              <a:rPr lang="zh-CN" altLang="en-US" sz="1400" dirty="0">
                <a:latin typeface="宋体" panose="02010600030101010101" pitchFamily="2" charset="-122"/>
                <a:ea typeface="宋体" panose="02010600030101010101" pitchFamily="2" charset="-122"/>
              </a:rPr>
              <a:t>，因为实验结果表明过高或过低的丢弃率都会降低模型性能</a:t>
            </a:r>
            <a:endParaRPr lang="en-US" altLang="zh-CN" dirty="0"/>
          </a:p>
          <a:p>
            <a:r>
              <a:rPr lang="zh-CN" altLang="en-US" sz="1800" dirty="0">
                <a:latin typeface="宋体" panose="02010600030101010101" pitchFamily="2" charset="-122"/>
                <a:ea typeface="宋体" panose="02010600030101010101" pitchFamily="2" charset="-122"/>
              </a:rPr>
              <a:t>模型堆叠</a:t>
            </a:r>
            <a:endParaRPr lang="en-US" altLang="zh-CN" sz="1800" dirty="0">
              <a:latin typeface="宋体" panose="02010600030101010101" pitchFamily="2" charset="-122"/>
              <a:ea typeface="宋体" panose="02010600030101010101" pitchFamily="2" charset="-122"/>
            </a:endParaRPr>
          </a:p>
          <a:p>
            <a:pPr marL="0" indent="0">
              <a:buNone/>
            </a:pPr>
            <a:r>
              <a:rPr lang="zh-CN" altLang="en-US" sz="1400" dirty="0">
                <a:latin typeface="宋体" panose="02010600030101010101" pitchFamily="2" charset="-122"/>
                <a:ea typeface="宋体" panose="02010600030101010101" pitchFamily="2" charset="-122"/>
              </a:rPr>
              <a:t>  丢弃只适用于神经网络模型，而模型堆叠（</a:t>
            </a:r>
            <a:r>
              <a:rPr lang="en-US" altLang="zh-CN" sz="1400" dirty="0">
                <a:latin typeface="宋体" panose="02010600030101010101" pitchFamily="2" charset="-122"/>
                <a:ea typeface="宋体" panose="02010600030101010101" pitchFamily="2" charset="-122"/>
              </a:rPr>
              <a:t>model stacking</a:t>
            </a:r>
            <a:r>
              <a:rPr lang="zh-CN" altLang="en-US" sz="1400" dirty="0">
                <a:latin typeface="宋体" panose="02010600030101010101" pitchFamily="2" charset="-122"/>
                <a:ea typeface="宋体" panose="02010600030101010101" pitchFamily="2" charset="-122"/>
              </a:rPr>
              <a:t>）与所选择的分类器无关，这种机制的背后的原理在于，若目标模型的不同部分使用不同的数据子集进行训练，则完整的模型就不易过拟合，这可以通过集成学习（</a:t>
            </a:r>
            <a:r>
              <a:rPr lang="en-US" altLang="zh-CN" sz="1400" dirty="0">
                <a:latin typeface="宋体" panose="02010600030101010101" pitchFamily="2" charset="-122"/>
                <a:ea typeface="宋体" panose="02010600030101010101" pitchFamily="2" charset="-122"/>
              </a:rPr>
              <a:t>ensemble learning</a:t>
            </a:r>
            <a:r>
              <a:rPr lang="zh-CN" altLang="en-US" sz="1400" dirty="0">
                <a:latin typeface="宋体" panose="02010600030101010101" pitchFamily="2" charset="-122"/>
                <a:ea typeface="宋体" panose="02010600030101010101" pitchFamily="2" charset="-122"/>
              </a:rPr>
              <a:t>）实现</a:t>
            </a:r>
            <a:endParaRPr lang="zh-CN" altLang="en-US" sz="1400" dirty="0">
              <a:latin typeface="宋体" panose="02010600030101010101" pitchFamily="2" charset="-122"/>
              <a:ea typeface="宋体" panose="02010600030101010101" pitchFamily="2" charset="-122"/>
            </a:endParaRPr>
          </a:p>
        </p:txBody>
      </p:sp>
      <p:pic>
        <p:nvPicPr>
          <p:cNvPr id="5" name="图片 4"/>
          <p:cNvPicPr>
            <a:picLocks noChangeAspect="1"/>
          </p:cNvPicPr>
          <p:nvPr/>
        </p:nvPicPr>
        <p:blipFill>
          <a:blip r:embed="rId1"/>
          <a:stretch>
            <a:fillRect/>
          </a:stretch>
        </p:blipFill>
        <p:spPr>
          <a:xfrm>
            <a:off x="671909" y="3312238"/>
            <a:ext cx="6352381" cy="1895238"/>
          </a:xfrm>
          <a:prstGeom prst="rect">
            <a:avLst/>
          </a:prstGeom>
        </p:spPr>
      </p:pic>
      <p:pic>
        <p:nvPicPr>
          <p:cNvPr id="7" name="图片 6"/>
          <p:cNvPicPr>
            <a:picLocks noChangeAspect="1"/>
          </p:cNvPicPr>
          <p:nvPr/>
        </p:nvPicPr>
        <p:blipFill>
          <a:blip r:embed="rId2"/>
          <a:stretch>
            <a:fillRect/>
          </a:stretch>
        </p:blipFill>
        <p:spPr>
          <a:xfrm>
            <a:off x="7941097" y="3195282"/>
            <a:ext cx="3294041" cy="26392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574675"/>
          </a:xfrm>
        </p:spPr>
        <p:txBody>
          <a:bodyPr>
            <a:normAutofit/>
          </a:bodyPr>
          <a:lstStyle/>
          <a:p>
            <a:r>
              <a:rPr lang="en-US" altLang="zh-CN" sz="2800" dirty="0">
                <a:latin typeface="宋体" panose="02010600030101010101" pitchFamily="2" charset="-122"/>
                <a:ea typeface="宋体" panose="02010600030101010101" pitchFamily="2" charset="-122"/>
              </a:rPr>
              <a:t>Label-Only Membership Inference Attacks</a:t>
            </a:r>
            <a:endParaRPr lang="zh-CN" altLang="en-US" sz="2800" dirty="0">
              <a:latin typeface="宋体" panose="02010600030101010101" pitchFamily="2" charset="-122"/>
              <a:ea typeface="宋体" panose="02010600030101010101" pitchFamily="2" charset="-122"/>
            </a:endParaRPr>
          </a:p>
        </p:txBody>
      </p:sp>
      <p:sp>
        <p:nvSpPr>
          <p:cNvPr id="5" name="Rectangle 2"/>
          <p:cNvSpPr>
            <a:spLocks noGrp="1" noChangeArrowheads="1"/>
          </p:cNvSpPr>
          <p:nvPr>
            <p:ph idx="1"/>
          </p:nvPr>
        </p:nvSpPr>
        <p:spPr bwMode="auto">
          <a:xfrm>
            <a:off x="1028700" y="1205597"/>
            <a:ext cx="106299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基于标签的成员推理攻击不依赖于分数的置信度（预测置信度的差异很大程度上归因于过拟合，如果降低过拟合程度，置信度的差异就不明显，也就不能准确推断出成员在训练数据集上的身份），而是通过分析在扰动下的模型的预测标签的鲁棒性（包括普通的数据增强和对抗示例）来获得一个细粒度的成员信号</a:t>
            </a:r>
            <a:r>
              <a:rPr kumimoji="0" lang="zh-CN" altLang="zh-CN" sz="8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7" name="文本框 6"/>
          <p:cNvSpPr txBox="1"/>
          <p:nvPr/>
        </p:nvSpPr>
        <p:spPr>
          <a:xfrm>
            <a:off x="1117600" y="2841536"/>
            <a:ext cx="10541000" cy="646331"/>
          </a:xfrm>
          <a:prstGeom prst="rect">
            <a:avLst/>
          </a:prstGeom>
          <a:noFill/>
        </p:spPr>
        <p:txBody>
          <a:bodyPr wrap="square">
            <a:spAutoFit/>
          </a:bodyPr>
          <a:lstStyle/>
          <a:p>
            <a:r>
              <a:rPr lang="zh-CN" altLang="en-US" dirty="0"/>
              <a:t>置信度（信任）掩蔽不能解决由于模型对训练数据的过拟合而导致的固有的隐私泄露问题成功的成员推理防御不应该只是保护平均用户的隐私，而且要保护最坏情况下离群用户的隐私</a:t>
            </a:r>
            <a:endParaRPr lang="zh-CN" altLang="en-US" dirty="0"/>
          </a:p>
        </p:txBody>
      </p:sp>
    </p:spTree>
  </p:cSld>
  <p:clrMapOvr>
    <a:masterClrMapping/>
  </p:clrMapOvr>
</p:sld>
</file>

<file path=ppt/tags/tag1.xml><?xml version="1.0" encoding="utf-8"?>
<p:tagLst xmlns:p="http://schemas.openxmlformats.org/presentationml/2006/main">
  <p:tag name="KSO_WPP_MARK_KEY" val="8da32176-c77e-472d-9a84-bb62a9149726"/>
  <p:tag name="COMMONDATA" val="eyJoZGlkIjoiMjY2MGRiNjc2OTljYmY0NzQ5MjY3Njg5MmY1ZjNlZj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2436</Words>
  <Application>WPS 演示</Application>
  <PresentationFormat>宽屏</PresentationFormat>
  <Paragraphs>83</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宋体</vt:lpstr>
      <vt:lpstr>Wingdings</vt:lpstr>
      <vt:lpstr>Open Sans</vt:lpstr>
      <vt:lpstr>Segoe Print</vt:lpstr>
      <vt:lpstr>Times New Roman</vt:lpstr>
      <vt:lpstr>等线</vt:lpstr>
      <vt:lpstr>微软雅黑</vt:lpstr>
      <vt:lpstr>Arial Unicode MS</vt:lpstr>
      <vt:lpstr>等线 Light</vt:lpstr>
      <vt:lpstr>Calibri</vt:lpstr>
      <vt:lpstr>Office 主题​​</vt:lpstr>
      <vt:lpstr>Membership Inference Attack</vt:lpstr>
      <vt:lpstr>核心思想：shadow model</vt:lpstr>
      <vt:lpstr>三种生成shadow training dataset的方法</vt:lpstr>
      <vt:lpstr>ML-leaks:Model and Data Independent Membership Inference Attacks and Defenses on Machine Learning Models</vt:lpstr>
      <vt:lpstr>训练攻击模型</vt:lpstr>
      <vt:lpstr>攻击一：不知模型</vt:lpstr>
      <vt:lpstr>如何放宽攻击者必须知道目标模型的算法与超参数的情况这一假设？</vt:lpstr>
      <vt:lpstr>攻击三：后验概率最大</vt:lpstr>
      <vt:lpstr>攻击二：不知数据</vt:lpstr>
      <vt:lpstr>防御机制</vt:lpstr>
      <vt:lpstr>Label-Only Membership Inference Attacks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Membership Inference Attack</dc:title>
  <dc:creator>郑 金财</dc:creator>
  <cp:lastModifiedBy>海洋星明亮的莴笋</cp:lastModifiedBy>
  <cp:revision>6</cp:revision>
  <dcterms:created xsi:type="dcterms:W3CDTF">2023-04-08T03:07:00Z</dcterms:created>
  <dcterms:modified xsi:type="dcterms:W3CDTF">2023-04-10T12:46:49Z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4B88D0B3BB7947C99C2AFE985EBEB9C6_12</vt:lpwstr>
  </property>
  <property fmtid="{D5CDD505-2E9C-101B-9397-08002B2CF9AE}" pid="3" name="KSOProductBuildVer">
    <vt:lpwstr>2052-11.1.0.14036</vt:lpwstr>
  </property>
</Properties>
</file>